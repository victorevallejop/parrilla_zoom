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Parrilla dinámica de acceso a clases EN VIVO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21792" y="170078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F5F7"/>
                </a:solidFill>
              </a:rPr>
              <a:t>Escenarios, FODA, implicancias y experiencia de usuario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" y="242316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54203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3C72"/>
                </a:solidFill>
              </a:rPr>
              <a:t>Decisión: cómo mostrar Zoom después de asistencia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77240" y="3657600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07A9B8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8130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72"/>
                </a:solidFill>
              </a:rPr>
              <a:t>Moodle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40873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3C72"/>
                </a:solidFill>
              </a:rPr>
              <a:t>asistencia + visibilidad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71800" y="3657600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6BCBDB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38130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72"/>
                </a:solidFill>
              </a:rPr>
              <a:t>GitHub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81528" y="40873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3C72"/>
                </a:solidFill>
              </a:rPr>
              <a:t>frontend institucional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66360" y="3657600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9DE3E8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38130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72"/>
                </a:solidFill>
              </a:rPr>
              <a:t>GAS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76088" y="40873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3C72"/>
                </a:solidFill>
              </a:rPr>
              <a:t>datos + tracking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60920" y="3657600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B7ECF0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0648" y="38130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72"/>
                </a:solidFill>
              </a:rPr>
              <a:t>Sheets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70648" y="40873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3C72"/>
                </a:solidFill>
              </a:rPr>
              <a:t>parrilla editable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555480" y="3657600"/>
            <a:ext cx="1572768" cy="804672"/>
          </a:xfrm>
          <a:prstGeom prst="roundRect">
            <a:avLst>
              <a:gd name="adj" fmla="val 9091"/>
            </a:avLst>
          </a:prstGeom>
          <a:solidFill>
            <a:srgbClr val="D2F4F6"/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5208" y="38130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72"/>
                </a:solidFill>
              </a:rPr>
              <a:t>Zoom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65208" y="40873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3C72"/>
                </a:solidFill>
              </a:rPr>
              <a:t>clase final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14016" y="3913632"/>
            <a:ext cx="329184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76" y="3913632"/>
            <a:ext cx="329184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3913632"/>
            <a:ext cx="329184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97696" y="3913632"/>
            <a:ext cx="329184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0167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F9FA"/>
                </a:solidFill>
              </a:rPr>
              <a:t>Resultado buscado: 8 recursos Moodle por asignatura, sin 128 HTML estáticos, con trazabilidad de selección.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 está decidiendo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Mapa ejecutivo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051560"/>
            <a:ext cx="5166360" cy="4892040"/>
          </a:xfrm>
          <a:prstGeom prst="roundRect">
            <a:avLst>
              <a:gd name="adj" fmla="val 1682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3167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Problema operativo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44348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• Hoy cada link de Zoom termina como recurso HTML independiente.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• La asistencia debe ser condición previa al acceso.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• El estudiante debe ver solo clases vigentes o próximas.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</a:rPr>
              <a:t>• Interesa registrar qué clase selecciona cada usuario.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88620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945636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Requisito clave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4279392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C72"/>
                </a:solidFill>
              </a:rPr>
              <a:t>8 recursos Moodle: uno por asignatura. Cada recurso filtra su propia parrilla.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5468112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3167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Modelo de experiencia deseado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420624" cy="420624"/>
          </a:xfrm>
          <a:prstGeom prst="ellipse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2996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2468880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Marca asistencia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67728" y="2002536"/>
            <a:ext cx="329184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71232" y="1920240"/>
            <a:ext cx="420624" cy="420624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202996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2468880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Se libera bloque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002536"/>
            <a:ext cx="329184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1664" y="1920240"/>
            <a:ext cx="420624" cy="420624"/>
          </a:xfrm>
          <a:prstGeom prst="ellipse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1664" y="202996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85632" y="2468880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Elige clase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08592" y="2002536"/>
            <a:ext cx="329184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12096" y="1920240"/>
            <a:ext cx="420624" cy="42062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12096" y="202996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56064" y="2468880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Entra a Zoom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37960" y="3246120"/>
            <a:ext cx="4297680" cy="1828800"/>
          </a:xfrm>
          <a:prstGeom prst="roundRect">
            <a:avLst>
              <a:gd name="adj" fmla="val 4500"/>
            </a:avLst>
          </a:prstGeom>
          <a:solidFill>
            <a:srgbClr val="FBFCFE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34564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C72"/>
                </a:solidFill>
              </a:rPr>
              <a:t>📄 Clases disponibles de Biología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48272" y="3822192"/>
            <a:ext cx="1234440" cy="219456"/>
          </a:xfrm>
          <a:prstGeom prst="roundRect">
            <a:avLst>
              <a:gd name="adj" fmla="val 458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387248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🟢 Recién iniciada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6748272" y="4160520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D3E50"/>
                </a:solidFill>
              </a:rPr>
              <a:t>2026 EET CR BIO08 · 18:30–20:00 · Prof. Julio Lucero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6748272" y="4480560"/>
            <a:ext cx="2880360" cy="73152"/>
          </a:xfrm>
          <a:prstGeom prst="rect">
            <a:avLst/>
          </a:prstGeom>
          <a:solidFill>
            <a:srgbClr val="D8E6EA"/>
          </a:solidFill>
          <a:ln w="12700">
            <a:solidFill>
              <a:srgbClr val="D8E6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48272" y="4480560"/>
            <a:ext cx="777240" cy="7315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4645152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37083"/>
                </a:solidFill>
              </a:rPr>
              <a:t>Transcurrido: 12 min · Restante: 78 min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9354312" y="4590288"/>
            <a:ext cx="1188720" cy="301752"/>
          </a:xfrm>
          <a:prstGeom prst="roundRect">
            <a:avLst>
              <a:gd name="adj" fmla="val 24242"/>
            </a:avLst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36608" y="4695444"/>
            <a:ext cx="10058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Ingresar a Zoom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00800" y="51937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D3E50"/>
                </a:solidFill>
              </a:rPr>
              <a:t>Moodle decide la disponibilidad. GitHub muestra la parrilla. GAS filtra y registra. Zoom se abre por clic.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lógica sugerida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Separación de responsabilidades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Moodle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>Asistencia, restricciones, filtros {username}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478024" y="1682496"/>
            <a:ext cx="320040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07208" y="12801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 Pages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44368" y="1847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>Frontend visual: cards, colores, contador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782312" y="1682496"/>
            <a:ext cx="320040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11496" y="12801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48656" y="1847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>API: lista clases y registra selección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086600" y="1682496"/>
            <a:ext cx="320040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15784" y="12801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Google Sheets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52944" y="1847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>Parrilla editable de horarios y links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390888" y="1682496"/>
            <a:ext cx="320040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20072" y="12801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7232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Zoom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57232" y="1847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>Destino final por clic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85800" y="2971800"/>
            <a:ext cx="3154680" cy="2286000"/>
          </a:xfrm>
          <a:prstGeom prst="roundRect">
            <a:avLst>
              <a:gd name="adj" fmla="val 3600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Regla temporal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657600"/>
            <a:ext cx="2606040" cy="11338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D3E50"/>
                </a:solidFill>
              </a:rPr>
              <a:t>• Mostrar solo clases de la asignatura.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D3E50"/>
                </a:solidFill>
              </a:rPr>
              <a:t>• Mostrar desde X minutos antes.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D3E50"/>
                </a:solidFill>
              </a:rPr>
              <a:t>• Mantener hasta Y minutos después.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D3E50"/>
                </a:solidFill>
              </a:rPr>
              <a:t>• Ocultar clases ya realizadas.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4343400" y="297180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Regla visual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0" y="3657600"/>
            <a:ext cx="1417320" cy="219456"/>
          </a:xfrm>
          <a:prstGeom prst="roundRect">
            <a:avLst>
              <a:gd name="adj" fmla="val 45833"/>
            </a:avLst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707892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Azul · por comenzar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6172200" y="3657600"/>
            <a:ext cx="1188720" cy="219456"/>
          </a:xfrm>
          <a:prstGeom prst="roundRect">
            <a:avLst>
              <a:gd name="adj" fmla="val 458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3707892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Verde · iniciando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572000" y="4133088"/>
            <a:ext cx="1143000" cy="219456"/>
          </a:xfrm>
          <a:prstGeom prst="roundRect">
            <a:avLst>
              <a:gd name="adj" fmla="val 45833"/>
            </a:avLst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4183380"/>
            <a:ext cx="1033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Ámbar · mitad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897880" y="4133088"/>
            <a:ext cx="1417320" cy="219456"/>
          </a:xfrm>
          <a:prstGeom prst="roundRect">
            <a:avLst>
              <a:gd name="adj" fmla="val 45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52744" y="4183380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Rojo · terminando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72000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E50"/>
                </a:solidFill>
              </a:rPr>
              <a:t>Contador: tiempo transcurrido + tiempo restante + barra de avance.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75320" y="297180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Log de selección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03920" y="3657600"/>
            <a:ext cx="26060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D3E50"/>
                </a:solidFill>
              </a:rPr>
              <a:t>• username recibido desde Moodle.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D3E50"/>
                </a:solidFill>
              </a:rPr>
              <a:t>• asignatura del recurso.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D3E50"/>
                </a:solidFill>
              </a:rPr>
              <a:t>• class_id seleccionado.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2D3E50"/>
                </a:solidFill>
              </a:rPr>
              <a:t>• timestamp y estado temporal.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01. Etiqueta Moodle + iframe GitHub + Filter Plugin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Recomendado como MVP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337560" cy="5257800"/>
          </a:xfrm>
          <a:prstGeom prst="roundRect">
            <a:avLst>
              <a:gd name="adj" fmla="val 246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Experiencia del usuario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37360"/>
            <a:ext cx="2697480" cy="34747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4708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Campus Virtual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62072" y="18470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D9F5F7"/>
                </a:solidFill>
              </a:rPr>
              <a:t>BIO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097280" y="23957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8754"/>
                </a:solidFill>
              </a:rPr>
              <a:t>Etiqueta con iframe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" y="276148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37083"/>
                </a:solidFill>
              </a:rPr>
              <a:t>.../parrilla_zoom/?asignatura=BIO&amp;username={username}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1069848" y="3337560"/>
            <a:ext cx="2121408" cy="749808"/>
          </a:xfrm>
          <a:prstGeom prst="roundRect">
            <a:avLst>
              <a:gd name="adj" fmla="val 10976"/>
            </a:avLst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465576"/>
            <a:ext cx="914400" cy="219456"/>
          </a:xfrm>
          <a:prstGeom prst="roundRect">
            <a:avLst>
              <a:gd name="adj" fmla="val 458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351586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Clase en curso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188720" y="3776472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C72"/>
                </a:solidFill>
              </a:rPr>
              <a:t>2026 EET CR BIO08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C72"/>
                </a:solidFill>
              </a:rPr>
              <a:t>Secuencia percibida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Marca asistencia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Moodle libera etiqueta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GitHub recibe {username}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Elige clase y se registra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1005840"/>
            <a:ext cx="3598164" cy="310896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06824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Fortalezas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306824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Usa el filtro que ya tienes: {username}.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Se ve dentro del curso, como etiqueta Moodle.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Reduce a 8 recursos por asignatura.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923276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23276" y="1005840"/>
            <a:ext cx="3598164" cy="310896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9580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Oportunidades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069580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Permite tracking por usuario y clase.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Frontend puede imitar el diseño Moodle.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Escalable a contadores y estados de color.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4160520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3717036"/>
            <a:ext cx="3598164" cy="310896"/>
          </a:xfrm>
          <a:prstGeom prst="rect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06824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Debilidades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306824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Identidad via URL: útil, pero manipulable.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Requiere que el filtro funcione dentro del iframe.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El control fuerte de asistencia queda en Moodle.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923276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3276" y="3717036"/>
            <a:ext cx="3598164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9580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Amenazas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8069580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Cambios del plugin/filtro pueden romper parámetros.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Riesgo de exponer username si no se minimizan datos.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Restricciones iframe/sandbox pueden afectar navegación a Zoom.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02. Recurso URL de Moodle con variables de usuario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Alternativa institucional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337560" cy="5257800"/>
          </a:xfrm>
          <a:prstGeom prst="roundRect">
            <a:avLst>
              <a:gd name="adj" fmla="val 246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Experiencia del usuario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37360"/>
            <a:ext cx="2697480" cy="34747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4708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Campus Virtual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62072" y="18470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D9F5F7"/>
                </a:solidFill>
              </a:rPr>
              <a:t>BIO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280160" y="23957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A9B8"/>
                </a:solidFill>
              </a:rPr>
              <a:t>Recurso URL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D3E50"/>
                </a:solidFill>
              </a:rPr>
              <a:t>?asignatura=BIO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D3E50"/>
                </a:solidFill>
              </a:rPr>
              <a:t>&amp;userid=123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1069848" y="3429000"/>
            <a:ext cx="2121408" cy="749808"/>
          </a:xfrm>
          <a:prstGeom prst="roundRect">
            <a:avLst>
              <a:gd name="adj" fmla="val 10976"/>
            </a:avLst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557016"/>
            <a:ext cx="914400" cy="219456"/>
          </a:xfrm>
          <a:prstGeom prst="roundRect">
            <a:avLst>
              <a:gd name="adj" fmla="val 458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360730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Clase en curso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188720" y="3867912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C72"/>
                </a:solidFill>
              </a:rPr>
              <a:t>2026 EET CR BIO08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C72"/>
                </a:solidFill>
              </a:rPr>
              <a:t>Secuencia percibida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Marca asistencia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Moodle libera 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URL pasa variables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GitHub muestra parrilla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1005840"/>
            <a:ext cx="3598164" cy="310896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06824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Fortalezas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306824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Mecanismo más propio de Moodle para pasar variables.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abrirse embebido o en frame.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Buena trazabilidad si variables están habilitadas.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923276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23276" y="1005840"/>
            <a:ext cx="3598164" cy="310896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9580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Oportunidades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069580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Permite estandarizar los 8 recursos URL.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Facilita auditoría por curso y usuario.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convivir con Restrict Access.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4160520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3717036"/>
            <a:ext cx="3598164" cy="310896"/>
          </a:xfrm>
          <a:prstGeom prst="rect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06824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Debilidades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306824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Depende de configuración “URL variables”.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Menos flexible visualmente que una etiqueta HTML.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sentirse como “recurso externo”.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923276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3276" y="3717036"/>
            <a:ext cx="3598164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9580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Amenazas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8069580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Riesgo de privacidad si se pasan datos sensibles.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requerir permisos de administrador.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Cambios de visualización Moodle alteran UX.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03. Botón “Continuar” al finalizar la asistencia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Flujo más natural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337560" cy="5257800"/>
          </a:xfrm>
          <a:prstGeom prst="roundRect">
            <a:avLst>
              <a:gd name="adj" fmla="val 246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Experiencia del usuario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37360"/>
            <a:ext cx="2697480" cy="34747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4708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Campus Virtual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62072" y="18470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D9F5F7"/>
                </a:solidFill>
              </a:rPr>
              <a:t>BIO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941832" y="2350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8754"/>
                </a:solidFill>
              </a:rPr>
              <a:t>✅ Asistencia registrada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61288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980944"/>
            <a:ext cx="14996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Continuar a clases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3611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37083"/>
                </a:solidFill>
              </a:rPr>
              <a:t>→ GitHub recibe parámetros si el filtro actúa en el botón.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C72"/>
                </a:solidFill>
              </a:rPr>
              <a:t>Secuencia percibida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Marca asistencia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Botón Continuar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Abre GitHub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Elige clase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1005840"/>
            <a:ext cx="3598164" cy="310896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Fortalezas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306824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Flujo inmediato: no obliga a volver al curso.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Muy comprensible para el estudiante.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reducir fricción de acceso.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923276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3276" y="1005840"/>
            <a:ext cx="3598164" cy="310896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Oportunidades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069580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Ideal si la actividad permite URL final parametrizada.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usarse como mejora posterior de UX.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Encaja con lógica “asistencia → clase”.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160520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3717036"/>
            <a:ext cx="3598164" cy="310896"/>
          </a:xfrm>
          <a:prstGeom prst="rect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06824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Debilidades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306824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siempre permite inyectar variables de usuario.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Depende del tipo exacto de actividad Moodle.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abrir una vista fuera del bloque del curso.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923276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23276" y="3717036"/>
            <a:ext cx="3598164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69580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Amenazas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069580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Si no pasa username, se pierde trazabilidad individual.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Difícil mantener 8 destinos si no se parametriza bien.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Riesgo de navegación confusa al finalizar.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04. Etiqueta iframe GitHub sin usuario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Piloto visual simple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337560" cy="5257800"/>
          </a:xfrm>
          <a:prstGeom prst="roundRect">
            <a:avLst>
              <a:gd name="adj" fmla="val 246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Experiencia del usuario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37360"/>
            <a:ext cx="2697480" cy="34747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4708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Campus Virtual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62072" y="18470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D9F5F7"/>
                </a:solidFill>
              </a:rPr>
              <a:t>BIO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234440" y="23957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F8A"/>
                </a:solidFill>
              </a:rPr>
              <a:t>GitHub iframe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9848" y="2880360"/>
            <a:ext cx="2121408" cy="749808"/>
          </a:xfrm>
          <a:prstGeom prst="roundRect">
            <a:avLst>
              <a:gd name="adj" fmla="val 10976"/>
            </a:avLst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008376"/>
            <a:ext cx="914400" cy="219456"/>
          </a:xfrm>
          <a:prstGeom prst="roundRect">
            <a:avLst>
              <a:gd name="adj" fmla="val 458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05866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Clase en curso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88720" y="3319272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C72"/>
                </a:solidFill>
              </a:rPr>
              <a:t>2026 EET CR BIO08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1435608" y="3858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</a:rPr>
              <a:t>Sin username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C72"/>
                </a:solidFill>
              </a:rPr>
              <a:t>Secuencia percibida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Moodle libera bloque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GitHub muestra clases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Estudiante hace clic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Zoom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1005840"/>
            <a:ext cx="3598164" cy="310896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06824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Fortalezas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306824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Muy rápido de probar.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depende de variables de usuario.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Sirve para validar diseño y filtros por asignatura.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923276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23276" y="1005840"/>
            <a:ext cx="3598164" cy="310896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9580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Oportunidades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069580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Bueno como maqueta funcional.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Permite probar contadores y colores.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evolucionar al escenario 01.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4160520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3717036"/>
            <a:ext cx="3598164" cy="310896"/>
          </a:xfrm>
          <a:prstGeom prst="rect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06824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Debilidades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306824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identifica quién seleccionó la clase.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Solo registra selección agregada o anónima.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sirve para análisis individual.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923276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3276" y="3717036"/>
            <a:ext cx="3598164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9580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Amenazas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8069580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Podría quedar como solución definitiva sin trazabilidad.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Menor valor para reportería.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duplicar trabajo si luego se migra.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05. Link directo a Web App GAS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Backend primero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337560" cy="5257800"/>
          </a:xfrm>
          <a:prstGeom prst="roundRect">
            <a:avLst>
              <a:gd name="adj" fmla="val 246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Experiencia del usuario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37360"/>
            <a:ext cx="2697480" cy="34747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4708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Campus Virtual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62072" y="18470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D9F5F7"/>
                </a:solidFill>
              </a:rPr>
              <a:t>BIO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960120" y="2423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Web App GAS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Valida clase disponible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Registra clic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Redirige a Zoom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858768"/>
            <a:ext cx="1417320" cy="219456"/>
          </a:xfrm>
          <a:prstGeom prst="roundRect">
            <a:avLst>
              <a:gd name="adj" fmla="val 45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72184" y="3909060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Tracking fuerte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C72"/>
                </a:solidFill>
              </a:rPr>
              <a:t>Secuencia percibida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Moodle libera link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Abre GAS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GAS decide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Zoom o parrilla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1005840"/>
            <a:ext cx="3598164" cy="310896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Fortalezas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306824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GAS controla datos, registro y redirección.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hay CORS entre frontend y backend.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Muy directo para auditar clics.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923276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3276" y="1005840"/>
            <a:ext cx="3598164" cy="310896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Oportunidades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069580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servir como endpoint de tracking robusto.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Útil para validar disponibilidad antes de Zoom.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Centraliza reglas en servidor.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160520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3717036"/>
            <a:ext cx="3598164" cy="310896"/>
          </a:xfrm>
          <a:prstGeom prst="rect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06824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Debilidades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306824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Visualmente menos integrado al curso.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sentirse como salida a otra aplicación.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Frontend queda más limitado si vive en GAS.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923276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23276" y="3717036"/>
            <a:ext cx="3598164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69580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Amenazas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069580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Dependencia de despliegue GAS y cuotas.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Riesgo de experiencia “externa”.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Si falla GAS, se corta todo el acceso.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06. GitHub + JSON/CSV sin GAS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Cero backend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337560" cy="5257800"/>
          </a:xfrm>
          <a:prstGeom prst="roundRect">
            <a:avLst>
              <a:gd name="adj" fmla="val 246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Experiencia del usuario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37360"/>
            <a:ext cx="2697480" cy="34747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4708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Campus Virtual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62072" y="18470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D9F5F7"/>
                </a:solidFill>
              </a:rPr>
              <a:t>BIO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234440" y="23957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757D"/>
                </a:solidFill>
              </a:rPr>
              <a:t>parrilla.json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" y="2788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37083"/>
                </a:solidFill>
              </a:rPr>
              <a:t>{ asignatura, fecha, zoom }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1069848" y="3182112"/>
            <a:ext cx="2121408" cy="749808"/>
          </a:xfrm>
          <a:prstGeom prst="roundRect">
            <a:avLst>
              <a:gd name="adj" fmla="val 10976"/>
            </a:avLst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310128"/>
            <a:ext cx="914400" cy="219456"/>
          </a:xfrm>
          <a:prstGeom prst="roundRect">
            <a:avLst>
              <a:gd name="adj" fmla="val 458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336042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Clase en curso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188720" y="3621024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3C72"/>
                </a:solidFill>
              </a:rPr>
              <a:t>2026 EET CR BIO08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C72"/>
                </a:solidFill>
              </a:rPr>
              <a:t>Secuencia percibida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Moodle embebe GitHub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GitHub lee 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Filtra horario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Zoom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1005840"/>
            <a:ext cx="3598164" cy="310896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06824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Fortalezas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306824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Costo directo $0 y sin backend.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Muy rápido de alojar en GitHub Pages.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consume cuotas GAS.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923276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23276" y="1005840"/>
            <a:ext cx="3598164" cy="310896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9580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Oportunidades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069580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Buena demo si no se requiere tracking individual.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Sirve para publicar cartelera estática semanal.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Menos piezas técnicas.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4160520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3717036"/>
            <a:ext cx="3598164" cy="310896"/>
          </a:xfrm>
          <a:prstGeom prst="rect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06824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Debilidades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306824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Parrilla/links pueden quedar expuestos.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Mantenimiento de JSON puede ser frágil.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registra selección de forma confiable.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923276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3276" y="3717036"/>
            <a:ext cx="3598164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9580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Amenazas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8069580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Errores de formato JSON rompen la parrilla.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sirve si se necesita consultar Sheets privado.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Links Zoom visibles en código o archivo.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07. Cloudflare Worker como backend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Profesional escalable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337560" cy="5257800"/>
          </a:xfrm>
          <a:prstGeom prst="roundRect">
            <a:avLst>
              <a:gd name="adj" fmla="val 246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Experiencia del usuario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37360"/>
            <a:ext cx="2697480" cy="34747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4708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Campus Virtual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62072" y="18470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D9F5F7"/>
                </a:solidFill>
              </a:rPr>
              <a:t>BIO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472184" y="2377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Worker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807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Reglas server-side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Redirección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71600" y="3639312"/>
            <a:ext cx="1517904" cy="219456"/>
          </a:xfrm>
          <a:prstGeom prst="roundRect">
            <a:avLst>
              <a:gd name="adj" fmla="val 4583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6464" y="3689604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Infra adicional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C72"/>
                </a:solidFill>
              </a:rPr>
              <a:t>Secuencia percibida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Moodle/GitHub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Worker filtra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Worker registra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Zoom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1005840"/>
            <a:ext cx="3598164" cy="310896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Fortalezas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306824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Backend más profesional que GAS.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ocultar links y aplicar reglas server-side.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Escala bien y permite dominio institucional.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923276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3276" y="1005840"/>
            <a:ext cx="3598164" cy="310896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Oportunidades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069580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Crear router institucional de clases.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Conectar KV/D1/API futuras.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Mejor base para producto interno.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160520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3717036"/>
            <a:ext cx="3598164" cy="310896"/>
          </a:xfrm>
          <a:prstGeom prst="rect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06824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Debilidades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306824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Mayor curva técnica.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Requiere administrar otra infraestructura.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aprovecha directamente tu experiencia GAS.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923276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23276" y="3717036"/>
            <a:ext cx="3598164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69580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Amenazas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069580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Dependencia de Cloudflare y configuración DNS.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Mayor costo de documentación y traspaso.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Puede ser sobredimensionado para un MVP.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08. Plugin Moodle o integración LTI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Nativo robusto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3337560" cy="5257800"/>
          </a:xfrm>
          <a:prstGeom prst="roundRect">
            <a:avLst>
              <a:gd name="adj" fmla="val 246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34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Experiencia del usuario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737360"/>
            <a:ext cx="2697480" cy="34747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84708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Campus Virtual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62072" y="18470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D9F5F7"/>
                </a:solidFill>
              </a:rPr>
              <a:t>BIO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234440" y="23957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2D82"/>
                </a:solidFill>
              </a:rPr>
              <a:t>Módulo Moodle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E50"/>
                </a:solidFill>
              </a:rPr>
              <a:t>Usuario autenticado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3E50"/>
                </a:solidFill>
              </a:rPr>
              <a:t>Parrilla nativa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3E50"/>
                </a:solidFill>
              </a:rPr>
              <a:t>Reporte interno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44168" y="3639312"/>
            <a:ext cx="1572768" cy="219456"/>
          </a:xfrm>
          <a:prstGeom prst="roundRect">
            <a:avLst>
              <a:gd name="adj" fmla="val 45833"/>
            </a:avLst>
          </a:prstGeom>
          <a:solidFill>
            <a:srgbClr val="5A2D82"/>
          </a:solidFill>
          <a:ln w="12700">
            <a:solidFill>
              <a:srgbClr val="5A2D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9032" y="3689604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Máxima robustez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C72"/>
                </a:solidFill>
              </a:rPr>
              <a:t>Secuencia percibida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Moodle nativo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Usuario autenticado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Parrilla interna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E50"/>
                </a:solidFill>
              </a:rPr>
              <a:t>• Zoom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1005840"/>
            <a:ext cx="3598164" cy="310896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Fortalezas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306824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Identidad Moodle robusta.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Experiencia 100% nativa.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Mejor seguridad y control académico.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923276" y="1005840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3276" y="1005840"/>
            <a:ext cx="3598164" cy="310896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9580" y="1092708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Oportunidades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069580" y="1517904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Producto institucional estable.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Integrable con calificaciones/reportes Moodle.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Auditoría más sólida.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160520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3717036"/>
            <a:ext cx="3598164" cy="310896"/>
          </a:xfrm>
          <a:prstGeom prst="rect">
            <a:avLst/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06824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Debilidades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306824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Costo y tiempo de desarrollo altos.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Requiere perfil Moodle/PHP/LTI.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Mantenimiento por versiones de Moodle.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923276" y="3717036"/>
            <a:ext cx="3598164" cy="2546604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23276" y="3717036"/>
            <a:ext cx="3598164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69580" y="3803904"/>
            <a:ext cx="33055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Amenazas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069580" y="4229100"/>
            <a:ext cx="3305556" cy="18882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Riesgo de deuda técnica en plugin propio.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Cambios de versión pueden romper compatibilidad.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D3E50"/>
                </a:solidFill>
              </a:rPr>
              <a:t>• No es razonable para piloto inmediato.</a:t>
            </a:r>
            <a:endParaRPr lang="en-US" sz="9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Registro de selección: qué clase eligió cada usuario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Diseño de tracking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987552"/>
            <a:ext cx="3703320" cy="530352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Patrón recomendado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29718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D3E50"/>
                </a:solidFill>
              </a:rPr>
              <a:t>• GAS no entrega links Zoom en el listado si se quiere más control.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D3E50"/>
                </a:solidFill>
              </a:rPr>
              <a:t>• Frontend muestra botones con class_id.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D3E50"/>
                </a:solidFill>
              </a:rPr>
              <a:t>• Al hacer clic, GAS registra y luego redirige.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D3E50"/>
                </a:solidFill>
              </a:rPr>
              <a:t>• El link final queda menos expuesto en la interfaz.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1325880" cy="237744"/>
          </a:xfrm>
          <a:prstGeom prst="roundRect">
            <a:avLst>
              <a:gd name="adj" fmla="val 19231"/>
            </a:avLst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762756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Link de tracking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4087368"/>
            <a:ext cx="29260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D3E50"/>
                </a:solidFill>
              </a:rPr>
              <a:t>.../exec?action=go&amp;username={username}&amp;asignatura=BIO&amp;class_id=2026_EET_CR_BIO08_1830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8754"/>
                </a:solidFill>
              </a:rPr>
              <a:t>Luego: registro en LOG → redirección a Zoom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1078992"/>
            <a:ext cx="1143000" cy="347472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197864"/>
            <a:ext cx="1088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timestamp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852160" y="1078992"/>
            <a:ext cx="1170432" cy="347472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1197864"/>
            <a:ext cx="1115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username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7022592" y="1078992"/>
            <a:ext cx="1115568" cy="347472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0024" y="1197864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asignatura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8138160" y="1078992"/>
            <a:ext cx="1389888" cy="347472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5592" y="1197864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class_id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9528048" y="1078992"/>
            <a:ext cx="1216152" cy="347472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1197864"/>
            <a:ext cx="1161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estado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0744200" y="1078992"/>
            <a:ext cx="1060704" cy="347472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71632" y="119786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restante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4709160" y="1426464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1581912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18:42:10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5852160" y="1426464"/>
            <a:ext cx="11704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88736" y="158191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12345678-9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7022592" y="1426464"/>
            <a:ext cx="11155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9168" y="1581912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BIO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8138160" y="1426464"/>
            <a:ext cx="13898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4736" y="158191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BIO08_1830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9528048" y="1426464"/>
            <a:ext cx="12161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64624" y="158191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98754"/>
                </a:solidFill>
              </a:rPr>
              <a:t>recién iniciada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10744200" y="1426464"/>
            <a:ext cx="10607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0776" y="158191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78 min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4709160" y="1901952"/>
            <a:ext cx="1143000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2057400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18:56:03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5852160" y="1901952"/>
            <a:ext cx="1170432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88736" y="205740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11222333-4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7022592" y="1901952"/>
            <a:ext cx="1115568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9168" y="205740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BIO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8138160" y="1901952"/>
            <a:ext cx="1389888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74736" y="205740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BIO08_1830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9528048" y="1901952"/>
            <a:ext cx="1216152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64624" y="205740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98754"/>
                </a:solidFill>
              </a:rPr>
              <a:t>en desarrollo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10744200" y="1901952"/>
            <a:ext cx="1060704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80776" y="2057400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64 min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4709160" y="2377440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45736" y="2532888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19:52:33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5852160" y="2377440"/>
            <a:ext cx="11704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88736" y="25328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19888777-6</a:t>
            </a:r>
            <a:endParaRPr lang="en-US" sz="670" dirty="0"/>
          </a:p>
        </p:txBody>
      </p:sp>
      <p:sp>
        <p:nvSpPr>
          <p:cNvPr id="55" name="Shape 53"/>
          <p:cNvSpPr/>
          <p:nvPr/>
        </p:nvSpPr>
        <p:spPr>
          <a:xfrm>
            <a:off x="7022592" y="2377440"/>
            <a:ext cx="11155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9168" y="2532888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BIO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8138160" y="2377440"/>
            <a:ext cx="13898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74736" y="2532888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BIO08_1830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9528048" y="2377440"/>
            <a:ext cx="12161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64624" y="253288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C62828"/>
                </a:solidFill>
              </a:rPr>
              <a:t>terminando</a:t>
            </a:r>
            <a:endParaRPr lang="en-US" sz="670" dirty="0"/>
          </a:p>
        </p:txBody>
      </p:sp>
      <p:sp>
        <p:nvSpPr>
          <p:cNvPr id="61" name="Shape 59"/>
          <p:cNvSpPr/>
          <p:nvPr/>
        </p:nvSpPr>
        <p:spPr>
          <a:xfrm>
            <a:off x="10744200" y="2377440"/>
            <a:ext cx="10607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780776" y="253288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8 min</a:t>
            </a:r>
            <a:endParaRPr lang="en-US" sz="670" dirty="0"/>
          </a:p>
        </p:txBody>
      </p:sp>
      <p:sp>
        <p:nvSpPr>
          <p:cNvPr id="63" name="Shape 61"/>
          <p:cNvSpPr/>
          <p:nvPr/>
        </p:nvSpPr>
        <p:spPr>
          <a:xfrm>
            <a:off x="4709160" y="2852928"/>
            <a:ext cx="1143000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45736" y="3008376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10:39:55</a:t>
            </a:r>
            <a:endParaRPr lang="en-US" sz="670" dirty="0"/>
          </a:p>
        </p:txBody>
      </p:sp>
      <p:sp>
        <p:nvSpPr>
          <p:cNvPr id="65" name="Shape 63"/>
          <p:cNvSpPr/>
          <p:nvPr/>
        </p:nvSpPr>
        <p:spPr>
          <a:xfrm>
            <a:off x="5852160" y="2852928"/>
            <a:ext cx="1170432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88736" y="30083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17666555-2</a:t>
            </a:r>
            <a:endParaRPr lang="en-US" sz="670" dirty="0"/>
          </a:p>
        </p:txBody>
      </p:sp>
      <p:sp>
        <p:nvSpPr>
          <p:cNvPr id="67" name="Shape 65"/>
          <p:cNvSpPr/>
          <p:nvPr/>
        </p:nvSpPr>
        <p:spPr>
          <a:xfrm>
            <a:off x="7022592" y="2852928"/>
            <a:ext cx="1115568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59168" y="3008376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LEN</a:t>
            </a:r>
            <a:endParaRPr lang="en-US" sz="670" dirty="0"/>
          </a:p>
        </p:txBody>
      </p:sp>
      <p:sp>
        <p:nvSpPr>
          <p:cNvPr id="69" name="Shape 67"/>
          <p:cNvSpPr/>
          <p:nvPr/>
        </p:nvSpPr>
        <p:spPr>
          <a:xfrm>
            <a:off x="8138160" y="2852928"/>
            <a:ext cx="1389888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74736" y="3008376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LEN03_1045</a:t>
            </a:r>
            <a:endParaRPr lang="en-US" sz="670" dirty="0"/>
          </a:p>
        </p:txBody>
      </p:sp>
      <p:sp>
        <p:nvSpPr>
          <p:cNvPr id="71" name="Shape 69"/>
          <p:cNvSpPr/>
          <p:nvPr/>
        </p:nvSpPr>
        <p:spPr>
          <a:xfrm>
            <a:off x="9528048" y="2852928"/>
            <a:ext cx="1216152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564624" y="300837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003C72"/>
                </a:solidFill>
              </a:rPr>
              <a:t>por comenzar</a:t>
            </a:r>
            <a:endParaRPr lang="en-US" sz="670" dirty="0"/>
          </a:p>
        </p:txBody>
      </p:sp>
      <p:sp>
        <p:nvSpPr>
          <p:cNvPr id="73" name="Shape 71"/>
          <p:cNvSpPr/>
          <p:nvPr/>
        </p:nvSpPr>
        <p:spPr>
          <a:xfrm>
            <a:off x="10744200" y="2852928"/>
            <a:ext cx="1060704" cy="475488"/>
          </a:xfrm>
          <a:prstGeom prst="rect">
            <a:avLst/>
          </a:prstGeom>
          <a:solidFill>
            <a:srgbClr val="F6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780776" y="3008376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D3E50"/>
                </a:solidFill>
              </a:rPr>
              <a:t>5 min</a:t>
            </a:r>
            <a:endParaRPr lang="en-US" sz="670" dirty="0"/>
          </a:p>
        </p:txBody>
      </p:sp>
      <p:sp>
        <p:nvSpPr>
          <p:cNvPr id="75" name="Shape 73"/>
          <p:cNvSpPr/>
          <p:nvPr/>
        </p:nvSpPr>
        <p:spPr>
          <a:xfrm>
            <a:off x="4709160" y="3886200"/>
            <a:ext cx="6309360" cy="1600200"/>
          </a:xfrm>
          <a:prstGeom prst="roundRect">
            <a:avLst>
              <a:gd name="adj" fmla="val 5143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8348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Uso analítico posterior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4983480" y="4590288"/>
            <a:ext cx="53949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D3E50"/>
                </a:solidFill>
              </a:rPr>
              <a:t>• Cruzar asistencia marcada vs. clic real a Zoom.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D3E50"/>
                </a:solidFill>
              </a:rPr>
              <a:t>• Detectar ingreso tardío o ingreso cuando la clase estaba terminando.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2D3E50"/>
                </a:solidFill>
              </a:rPr>
              <a:t>• Medir demanda por asignatura, horario, profesor y sesión.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 comparativa de escenarios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Costos, experiencia y trazabilidad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024128"/>
            <a:ext cx="2240280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43000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Escenario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587752" y="1024128"/>
            <a:ext cx="1051560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1143000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UX Moodle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639312" y="1024128"/>
            <a:ext cx="1051560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1143000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Usuario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690872" y="1024128"/>
            <a:ext cx="1024128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14300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Tracking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5715000" y="1024128"/>
            <a:ext cx="1024128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51576" y="114300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Tiempo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739128" y="1024128"/>
            <a:ext cx="1170432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75704" y="114300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Costo $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909560" y="1024128"/>
            <a:ext cx="1124712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46136" y="11430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Mantención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9034272" y="1024128"/>
            <a:ext cx="1335024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0848" y="1143000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Veredicto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347472" y="140817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581912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01 Etiqueta + Filter Plugin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2587752" y="1408176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158191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3639312" y="1408176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158191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690872" y="1408176"/>
            <a:ext cx="10241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158191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715000" y="1408176"/>
            <a:ext cx="10241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158191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6739128" y="1408176"/>
            <a:ext cx="11704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75704" y="158191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7909560" y="1408176"/>
            <a:ext cx="11247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46136" y="158191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9034272" y="1408176"/>
            <a:ext cx="133502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0848" y="1581912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98754"/>
                </a:solidFill>
              </a:rPr>
              <a:t>MVP recomendado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347472" y="1920240"/>
            <a:ext cx="22402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209397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02 Recurso URL + variables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2587752" y="1920240"/>
            <a:ext cx="10515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24328" y="209397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3639312" y="1920240"/>
            <a:ext cx="10515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09397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4690872" y="1920240"/>
            <a:ext cx="1024128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27448" y="20939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5715000" y="1920240"/>
            <a:ext cx="1024128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51576" y="20939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B58100"/>
                </a:solidFill>
              </a:rPr>
              <a:t>Medio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6739128" y="1920240"/>
            <a:ext cx="1170432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75704" y="20939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7909560" y="1920240"/>
            <a:ext cx="1124712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46136" y="20939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9034272" y="1920240"/>
            <a:ext cx="1335024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70848" y="2093976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98754"/>
                </a:solidFill>
              </a:rPr>
              <a:t>Muy sólido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347472" y="24323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2606040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03 Botón Continuar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2587752" y="2432304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24328" y="2606040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3639312" y="2432304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75888" y="2606040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C62828"/>
                </a:solidFill>
              </a:rPr>
              <a:t>Dudosa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4690872" y="2432304"/>
            <a:ext cx="10241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7448" y="260604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5715000" y="2432304"/>
            <a:ext cx="10241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51576" y="260604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B58100"/>
                </a:solidFill>
              </a:rPr>
              <a:t>Medio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6739128" y="2432304"/>
            <a:ext cx="11704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75704" y="260604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7909560" y="2432304"/>
            <a:ext cx="11247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46136" y="260604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9034272" y="2432304"/>
            <a:ext cx="133502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70848" y="2606040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58100"/>
                </a:solidFill>
              </a:rPr>
              <a:t>Validar antes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347472" y="2944368"/>
            <a:ext cx="22402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4048" y="3118104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04 Iframe sin usuario</a:t>
            </a:r>
            <a:endParaRPr lang="en-US" sz="710" dirty="0"/>
          </a:p>
        </p:txBody>
      </p:sp>
      <p:sp>
        <p:nvSpPr>
          <p:cNvPr id="74" name="Shape 72"/>
          <p:cNvSpPr/>
          <p:nvPr/>
        </p:nvSpPr>
        <p:spPr>
          <a:xfrm>
            <a:off x="2587752" y="2944368"/>
            <a:ext cx="10515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24328" y="311810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3639312" y="2944368"/>
            <a:ext cx="10515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75888" y="311810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C62828"/>
                </a:solidFill>
              </a:rPr>
              <a:t>Baja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4690872" y="2944368"/>
            <a:ext cx="1024128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27448" y="311810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C62828"/>
                </a:solidFill>
              </a:rPr>
              <a:t>Baja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5715000" y="2944368"/>
            <a:ext cx="1024128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51576" y="311810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6739128" y="2944368"/>
            <a:ext cx="1170432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75704" y="311810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7909560" y="2944368"/>
            <a:ext cx="1124712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46136" y="311810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C62828"/>
                </a:solidFill>
              </a:rPr>
              <a:t>Baja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9034272" y="2944368"/>
            <a:ext cx="1335024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70848" y="311810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62828"/>
                </a:solidFill>
              </a:rPr>
              <a:t>Solo piloto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347472" y="34564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4048" y="3630168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05 Directo a GAS</a:t>
            </a:r>
            <a:endParaRPr lang="en-US" sz="710" dirty="0"/>
          </a:p>
        </p:txBody>
      </p:sp>
      <p:sp>
        <p:nvSpPr>
          <p:cNvPr id="90" name="Shape 88"/>
          <p:cNvSpPr/>
          <p:nvPr/>
        </p:nvSpPr>
        <p:spPr>
          <a:xfrm>
            <a:off x="2587752" y="3456432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624328" y="3630168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3639312" y="3456432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75888" y="3630168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4690872" y="3456432"/>
            <a:ext cx="10241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27448" y="36301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96" name="Shape 94"/>
          <p:cNvSpPr/>
          <p:nvPr/>
        </p:nvSpPr>
        <p:spPr>
          <a:xfrm>
            <a:off x="5715000" y="3456432"/>
            <a:ext cx="10241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751576" y="36301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B58100"/>
                </a:solidFill>
              </a:rPr>
              <a:t>Medio</a:t>
            </a:r>
            <a:endParaRPr lang="en-US" sz="680" dirty="0"/>
          </a:p>
        </p:txBody>
      </p:sp>
      <p:sp>
        <p:nvSpPr>
          <p:cNvPr id="98" name="Shape 96"/>
          <p:cNvSpPr/>
          <p:nvPr/>
        </p:nvSpPr>
        <p:spPr>
          <a:xfrm>
            <a:off x="6739128" y="3456432"/>
            <a:ext cx="11704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75704" y="363016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100" name="Shape 98"/>
          <p:cNvSpPr/>
          <p:nvPr/>
        </p:nvSpPr>
        <p:spPr>
          <a:xfrm>
            <a:off x="7909560" y="3456432"/>
            <a:ext cx="11247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46136" y="36301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102" name="Shape 100"/>
          <p:cNvSpPr/>
          <p:nvPr/>
        </p:nvSpPr>
        <p:spPr>
          <a:xfrm>
            <a:off x="9034272" y="3456432"/>
            <a:ext cx="133502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070848" y="363016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D3E50"/>
                </a:solidFill>
              </a:rPr>
              <a:t>Útil backend</a:t>
            </a:r>
            <a:endParaRPr lang="en-US" sz="680" dirty="0"/>
          </a:p>
        </p:txBody>
      </p:sp>
      <p:sp>
        <p:nvSpPr>
          <p:cNvPr id="104" name="Shape 102"/>
          <p:cNvSpPr/>
          <p:nvPr/>
        </p:nvSpPr>
        <p:spPr>
          <a:xfrm>
            <a:off x="347472" y="3968496"/>
            <a:ext cx="22402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4048" y="4142232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06 GitHub + JSON</a:t>
            </a:r>
            <a:endParaRPr lang="en-US" sz="710" dirty="0"/>
          </a:p>
        </p:txBody>
      </p:sp>
      <p:sp>
        <p:nvSpPr>
          <p:cNvPr id="106" name="Shape 104"/>
          <p:cNvSpPr/>
          <p:nvPr/>
        </p:nvSpPr>
        <p:spPr>
          <a:xfrm>
            <a:off x="2587752" y="3968496"/>
            <a:ext cx="10515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624328" y="414223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108" name="Shape 106"/>
          <p:cNvSpPr/>
          <p:nvPr/>
        </p:nvSpPr>
        <p:spPr>
          <a:xfrm>
            <a:off x="3639312" y="3968496"/>
            <a:ext cx="10515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675888" y="414223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C62828"/>
                </a:solidFill>
              </a:rPr>
              <a:t>Baja</a:t>
            </a:r>
            <a:endParaRPr lang="en-US" sz="680" dirty="0"/>
          </a:p>
        </p:txBody>
      </p:sp>
      <p:sp>
        <p:nvSpPr>
          <p:cNvPr id="110" name="Shape 108"/>
          <p:cNvSpPr/>
          <p:nvPr/>
        </p:nvSpPr>
        <p:spPr>
          <a:xfrm>
            <a:off x="4690872" y="3968496"/>
            <a:ext cx="1024128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727448" y="414223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C62828"/>
                </a:solidFill>
              </a:rPr>
              <a:t>Baja</a:t>
            </a:r>
            <a:endParaRPr lang="en-US" sz="680" dirty="0"/>
          </a:p>
        </p:txBody>
      </p:sp>
      <p:sp>
        <p:nvSpPr>
          <p:cNvPr id="112" name="Shape 110"/>
          <p:cNvSpPr/>
          <p:nvPr/>
        </p:nvSpPr>
        <p:spPr>
          <a:xfrm>
            <a:off x="5715000" y="3968496"/>
            <a:ext cx="1024128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751576" y="414223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114" name="Shape 112"/>
          <p:cNvSpPr/>
          <p:nvPr/>
        </p:nvSpPr>
        <p:spPr>
          <a:xfrm>
            <a:off x="6739128" y="3968496"/>
            <a:ext cx="1170432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775704" y="41422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7909560" y="3968496"/>
            <a:ext cx="1124712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946136" y="414223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118" name="Shape 116"/>
          <p:cNvSpPr/>
          <p:nvPr/>
        </p:nvSpPr>
        <p:spPr>
          <a:xfrm>
            <a:off x="9034272" y="3968496"/>
            <a:ext cx="1335024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070848" y="4142232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62828"/>
                </a:solidFill>
              </a:rPr>
              <a:t>No trazable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347472" y="4480560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84048" y="4654296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07 Cloudflare Worker</a:t>
            </a:r>
            <a:endParaRPr lang="en-US" sz="710" dirty="0"/>
          </a:p>
        </p:txBody>
      </p:sp>
      <p:sp>
        <p:nvSpPr>
          <p:cNvPr id="122" name="Shape 120"/>
          <p:cNvSpPr/>
          <p:nvPr/>
        </p:nvSpPr>
        <p:spPr>
          <a:xfrm>
            <a:off x="2587752" y="4480560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624328" y="465429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124" name="Shape 122"/>
          <p:cNvSpPr/>
          <p:nvPr/>
        </p:nvSpPr>
        <p:spPr>
          <a:xfrm>
            <a:off x="3639312" y="4480560"/>
            <a:ext cx="1051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675888" y="465429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Media</a:t>
            </a:r>
            <a:endParaRPr lang="en-US" sz="680" dirty="0"/>
          </a:p>
        </p:txBody>
      </p:sp>
      <p:sp>
        <p:nvSpPr>
          <p:cNvPr id="126" name="Shape 124"/>
          <p:cNvSpPr/>
          <p:nvPr/>
        </p:nvSpPr>
        <p:spPr>
          <a:xfrm>
            <a:off x="4690872" y="4480560"/>
            <a:ext cx="10241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727448" y="465429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128" name="Shape 126"/>
          <p:cNvSpPr/>
          <p:nvPr/>
        </p:nvSpPr>
        <p:spPr>
          <a:xfrm>
            <a:off x="5715000" y="4480560"/>
            <a:ext cx="10241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751576" y="465429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Alto</a:t>
            </a:r>
            <a:endParaRPr lang="en-US" sz="680" dirty="0"/>
          </a:p>
        </p:txBody>
      </p:sp>
      <p:sp>
        <p:nvSpPr>
          <p:cNvPr id="130" name="Shape 128"/>
          <p:cNvSpPr/>
          <p:nvPr/>
        </p:nvSpPr>
        <p:spPr>
          <a:xfrm>
            <a:off x="6739128" y="4480560"/>
            <a:ext cx="11704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775704" y="46542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Bajo/Medio</a:t>
            </a:r>
            <a:endParaRPr lang="en-US" sz="680" dirty="0"/>
          </a:p>
        </p:txBody>
      </p:sp>
      <p:sp>
        <p:nvSpPr>
          <p:cNvPr id="132" name="Shape 130"/>
          <p:cNvSpPr/>
          <p:nvPr/>
        </p:nvSpPr>
        <p:spPr>
          <a:xfrm>
            <a:off x="7909560" y="4480560"/>
            <a:ext cx="11247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946136" y="46542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C62828"/>
                </a:solidFill>
              </a:rPr>
              <a:t>Baja</a:t>
            </a:r>
            <a:endParaRPr lang="en-US" sz="680" dirty="0"/>
          </a:p>
        </p:txBody>
      </p:sp>
      <p:sp>
        <p:nvSpPr>
          <p:cNvPr id="134" name="Shape 132"/>
          <p:cNvSpPr/>
          <p:nvPr/>
        </p:nvSpPr>
        <p:spPr>
          <a:xfrm>
            <a:off x="9034272" y="4480560"/>
            <a:ext cx="133502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070848" y="4654296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58100"/>
                </a:solidFill>
              </a:rPr>
              <a:t>Fase 2/3</a:t>
            </a:r>
            <a:endParaRPr lang="en-US" sz="680" dirty="0"/>
          </a:p>
        </p:txBody>
      </p:sp>
      <p:sp>
        <p:nvSpPr>
          <p:cNvPr id="136" name="Shape 134"/>
          <p:cNvSpPr/>
          <p:nvPr/>
        </p:nvSpPr>
        <p:spPr>
          <a:xfrm>
            <a:off x="347472" y="4992624"/>
            <a:ext cx="22402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84048" y="5166360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08 Plugin/LTI</a:t>
            </a:r>
            <a:endParaRPr lang="en-US" sz="710" dirty="0"/>
          </a:p>
        </p:txBody>
      </p:sp>
      <p:sp>
        <p:nvSpPr>
          <p:cNvPr id="138" name="Shape 136"/>
          <p:cNvSpPr/>
          <p:nvPr/>
        </p:nvSpPr>
        <p:spPr>
          <a:xfrm>
            <a:off x="2587752" y="4992624"/>
            <a:ext cx="10515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624328" y="5166360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Muy alta</a:t>
            </a:r>
            <a:endParaRPr lang="en-US" sz="680" dirty="0"/>
          </a:p>
        </p:txBody>
      </p:sp>
      <p:sp>
        <p:nvSpPr>
          <p:cNvPr id="140" name="Shape 138"/>
          <p:cNvSpPr/>
          <p:nvPr/>
        </p:nvSpPr>
        <p:spPr>
          <a:xfrm>
            <a:off x="3639312" y="4992624"/>
            <a:ext cx="10515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675888" y="5166360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Muy alta</a:t>
            </a:r>
            <a:endParaRPr lang="en-US" sz="680" dirty="0"/>
          </a:p>
        </p:txBody>
      </p:sp>
      <p:sp>
        <p:nvSpPr>
          <p:cNvPr id="142" name="Shape 140"/>
          <p:cNvSpPr/>
          <p:nvPr/>
        </p:nvSpPr>
        <p:spPr>
          <a:xfrm>
            <a:off x="4690872" y="4992624"/>
            <a:ext cx="1024128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727448" y="516636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Muy alta</a:t>
            </a:r>
            <a:endParaRPr lang="en-US" sz="680" dirty="0"/>
          </a:p>
        </p:txBody>
      </p:sp>
      <p:sp>
        <p:nvSpPr>
          <p:cNvPr id="144" name="Shape 142"/>
          <p:cNvSpPr/>
          <p:nvPr/>
        </p:nvSpPr>
        <p:spPr>
          <a:xfrm>
            <a:off x="5715000" y="4992624"/>
            <a:ext cx="1024128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751576" y="516636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Muy alto</a:t>
            </a:r>
            <a:endParaRPr lang="en-US" sz="680" dirty="0"/>
          </a:p>
        </p:txBody>
      </p:sp>
      <p:sp>
        <p:nvSpPr>
          <p:cNvPr id="146" name="Shape 144"/>
          <p:cNvSpPr/>
          <p:nvPr/>
        </p:nvSpPr>
        <p:spPr>
          <a:xfrm>
            <a:off x="6739128" y="4992624"/>
            <a:ext cx="1170432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775704" y="516636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Alto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7909560" y="4992624"/>
            <a:ext cx="1124712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946136" y="51663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98754"/>
                </a:solidFill>
              </a:rPr>
              <a:t>Alta</a:t>
            </a:r>
            <a:endParaRPr lang="en-US" sz="680" dirty="0"/>
          </a:p>
        </p:txBody>
      </p:sp>
      <p:sp>
        <p:nvSpPr>
          <p:cNvPr id="150" name="Shape 148"/>
          <p:cNvSpPr/>
          <p:nvPr/>
        </p:nvSpPr>
        <p:spPr>
          <a:xfrm>
            <a:off x="9034272" y="4992624"/>
            <a:ext cx="1335024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070848" y="5166360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D3E50"/>
                </a:solidFill>
              </a:rPr>
              <a:t>Largo plazo</a:t>
            </a:r>
            <a:endParaRPr lang="en-US" sz="680" dirty="0"/>
          </a:p>
        </p:txBody>
      </p:sp>
      <p:sp>
        <p:nvSpPr>
          <p:cNvPr id="152" name="Text 150"/>
          <p:cNvSpPr/>
          <p:nvPr/>
        </p:nvSpPr>
        <p:spPr>
          <a:xfrm>
            <a:off x="566928" y="617220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C72"/>
                </a:solidFill>
              </a:rPr>
              <a:t>Lectura rápida: para decidir ahora, ponderar más “UX Moodle + tracking + bajo tiempo inicial”.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FODA resumido por enfoque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Lectura estratégica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1691640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170432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Enfoque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194560" y="1051560"/>
            <a:ext cx="2057400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117043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Fortaleza dominante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4251960" y="1051560"/>
            <a:ext cx="2057400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8536" y="117043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Oportunidad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309360" y="1051560"/>
            <a:ext cx="2057400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17043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Debilidad crítica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8366760" y="1051560"/>
            <a:ext cx="2057400" cy="384048"/>
          </a:xfrm>
          <a:prstGeom prst="rect">
            <a:avLst/>
          </a:prstGeom>
          <a:solidFill>
            <a:srgbClr val="003C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17043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Amenaza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02920" y="1435608"/>
            <a:ext cx="1691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1609344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Etiqueta + filtro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2194560" y="1435608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31136" y="1609344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Fuerte en UX y tiempo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4251960" y="1435608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88536" y="1609344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Trazabilidad suficiente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6309360" y="1435608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1609344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Identidad por URL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8366760" y="1435608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03336" y="1609344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Cambio de filtro/plugin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02920" y="1947672"/>
            <a:ext cx="16916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2121408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Recurso URL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2194560" y="1947672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31136" y="2121408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Fuerte en variables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251960" y="1947672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88536" y="2121408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Más estándar Moodle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6309360" y="1947672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5936" y="2121408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Depende de configuración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8366760" y="1947672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03336" y="2121408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Privacidad de variables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502920" y="2459736"/>
            <a:ext cx="1691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" y="2633472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Continuar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2194560" y="2459736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31136" y="263347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Flujo muy natural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4251960" y="2459736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88536" y="263347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Reduce fricción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309360" y="2459736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263347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Paso de variables incierto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8366760" y="2459736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03336" y="263347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Puede perder tracking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502920" y="2971800"/>
            <a:ext cx="16916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" y="3145536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Iframe anónimo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2194560" y="2971800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31136" y="3145536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Muy rápido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4251960" y="2971800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88536" y="3145536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Sirve para maqueta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6309360" y="2971800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3145536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Sin usuario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8366760" y="2971800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03336" y="3145536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Poca reportería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502920" y="3483864"/>
            <a:ext cx="1691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" y="3657600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GAS directo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2194560" y="3483864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31136" y="3657600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Tracking central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4251960" y="3483864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88536" y="3657600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Reglas server-side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6309360" y="3483864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45936" y="3657600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Menos integrado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8366760" y="3483864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03336" y="3657600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Dependencia GAS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502920" y="3995928"/>
            <a:ext cx="16916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9496" y="4169664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GitHub JSON</a:t>
            </a:r>
            <a:endParaRPr lang="en-US" sz="710" dirty="0"/>
          </a:p>
        </p:txBody>
      </p:sp>
      <p:sp>
        <p:nvSpPr>
          <p:cNvPr id="70" name="Shape 68"/>
          <p:cNvSpPr/>
          <p:nvPr/>
        </p:nvSpPr>
        <p:spPr>
          <a:xfrm>
            <a:off x="2194560" y="3995928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31136" y="4169664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Cero backend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4251960" y="3995928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88536" y="4169664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Demo veloz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6309360" y="3995928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45936" y="4169664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Links expuestos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8366760" y="3995928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403336" y="4169664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Sin tracking real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502920" y="4507992"/>
            <a:ext cx="16916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9496" y="4681728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Worker</a:t>
            </a:r>
            <a:endParaRPr lang="en-US" sz="710" dirty="0"/>
          </a:p>
        </p:txBody>
      </p:sp>
      <p:sp>
        <p:nvSpPr>
          <p:cNvPr id="80" name="Shape 78"/>
          <p:cNvSpPr/>
          <p:nvPr/>
        </p:nvSpPr>
        <p:spPr>
          <a:xfrm>
            <a:off x="2194560" y="4507992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31136" y="4681728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Escalable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4251960" y="4507992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88536" y="4681728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Router institucional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6309360" y="4507992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45936" y="4681728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Curva técnica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8366760" y="4507992"/>
            <a:ext cx="2057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03336" y="4681728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Infra extra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502920" y="5020056"/>
            <a:ext cx="16916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9496" y="5193792"/>
            <a:ext cx="1618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D3E50"/>
                </a:solidFill>
              </a:rPr>
              <a:t>Plugin/LTI</a:t>
            </a:r>
            <a:endParaRPr lang="en-US" sz="710" dirty="0"/>
          </a:p>
        </p:txBody>
      </p:sp>
      <p:sp>
        <p:nvSpPr>
          <p:cNvPr id="90" name="Shape 88"/>
          <p:cNvSpPr/>
          <p:nvPr/>
        </p:nvSpPr>
        <p:spPr>
          <a:xfrm>
            <a:off x="2194560" y="5020056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31136" y="519379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Máxima robustez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4251960" y="5020056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88536" y="519379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Producto nativo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6309360" y="5020056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45936" y="519379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Costo alto</a:t>
            </a:r>
            <a:endParaRPr lang="en-US" sz="680" dirty="0"/>
          </a:p>
        </p:txBody>
      </p:sp>
      <p:sp>
        <p:nvSpPr>
          <p:cNvPr id="96" name="Shape 94"/>
          <p:cNvSpPr/>
          <p:nvPr/>
        </p:nvSpPr>
        <p:spPr>
          <a:xfrm>
            <a:off x="8366760" y="5020056"/>
            <a:ext cx="2057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CE5E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403336" y="5193792"/>
            <a:ext cx="1984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D3E50"/>
                </a:solidFill>
              </a:rPr>
              <a:t>Mantención compleja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Recomendación de decisión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Camino sugerido por fases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58368" y="1170432"/>
            <a:ext cx="2331720" cy="37033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44475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54480"/>
            <a:ext cx="758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Fase 0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886968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Mockup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2697480"/>
            <a:ext cx="1874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D3E50"/>
                </a:solidFill>
              </a:rPr>
              <a:t>Diseñar card GitHub con clases filtradas por asignatura, contador y colores.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27248" y="2660904"/>
            <a:ext cx="274320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1296" y="1170432"/>
            <a:ext cx="2331720" cy="37033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9896" y="144475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554480"/>
            <a:ext cx="758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Fase 1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3739896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MVP recomendado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39896" y="2697480"/>
            <a:ext cx="1874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D3E50"/>
                </a:solidFill>
              </a:rPr>
              <a:t>Etiqueta Moodle restringida por asistencia + iframe GitHub con {username}.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0176" y="2660904"/>
            <a:ext cx="274320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1170432"/>
            <a:ext cx="2331720" cy="37033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2824" y="144475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B58100"/>
          </a:solidFill>
          <a:ln w="12700">
            <a:solidFill>
              <a:srgbClr val="B58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1554480"/>
            <a:ext cx="758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Fase 2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592824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Tracking robusto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92824" y="2697480"/>
            <a:ext cx="1874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D3E50"/>
                </a:solidFill>
              </a:rPr>
              <a:t>Botón class_id → GAS action=go → LOG → redirección Zoom.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33104" y="2660904"/>
            <a:ext cx="274320" cy="256032"/>
          </a:xfrm>
          <a:prstGeom prst="chevron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1170432"/>
            <a:ext cx="2331720" cy="37033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45752" y="144475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64624" y="1554480"/>
            <a:ext cx="758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Fase 3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944575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Profesionalización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45752" y="2697480"/>
            <a:ext cx="1874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D3E50"/>
                </a:solidFill>
              </a:rPr>
              <a:t>Evaluar URL resource, Worker, LTI o plugin si la operación crece.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60120" y="5321808"/>
            <a:ext cx="10195560" cy="685800"/>
          </a:xfrm>
          <a:prstGeom prst="roundRect">
            <a:avLst>
              <a:gd name="adj" fmla="val 12000"/>
            </a:avLst>
          </a:prstGeom>
          <a:solidFill>
            <a:srgbClr val="F4F8FB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555955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03C72"/>
                </a:solidFill>
              </a:rPr>
              <a:t>Decisión práctica: iniciar con Escenario 01. Es el mejor equilibrio: aprovecha el Filter Plugin existente, mantiene Moodle como contenedor, permite 8 recursos por asignatura y habilita tracking suficiente para saber qué clase seleccionó cada usuario.</a:t>
            </a:r>
            <a:endParaRPr lang="en-US" sz="12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Mockup de experiencia final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Antes y después de marcar asistencia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024128"/>
            <a:ext cx="5074920" cy="5212080"/>
          </a:xfrm>
          <a:prstGeom prst="roundRect">
            <a:avLst>
              <a:gd name="adj" fmla="val 1622"/>
            </a:avLst>
          </a:prstGeom>
          <a:solidFill>
            <a:srgbClr val="FAFBFC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Antes de marcar asistencia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0120" y="1874520"/>
            <a:ext cx="45262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15798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3C72"/>
                </a:solidFill>
              </a:rPr>
              <a:t>☑ Marca tu asistencia para ingresar a Biología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70432" y="2487168"/>
            <a:ext cx="841248" cy="219456"/>
          </a:xfrm>
          <a:prstGeom prst="roundRect">
            <a:avLst>
              <a:gd name="adj" fmla="val 45833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53746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Restringido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148840" y="253288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37083"/>
                </a:solidFill>
              </a:rPr>
              <a:t>Disponible en la ventana horaria definida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4526280" cy="1417320"/>
          </a:xfrm>
          <a:prstGeom prst="roundRect">
            <a:avLst>
              <a:gd name="adj" fmla="val 5806"/>
            </a:avLst>
          </a:prstGeom>
          <a:solidFill>
            <a:srgbClr val="F3F5F7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7947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7083"/>
                </a:solidFill>
              </a:rPr>
              <a:t>🔒 Acceso a Zoom oculto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16052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83"/>
                </a:solidFill>
              </a:rPr>
              <a:t>Primero debe completarse la actividad de asistencia.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1024128"/>
            <a:ext cx="5074920" cy="5212080"/>
          </a:xfrm>
          <a:prstGeom prst="roundRect">
            <a:avLst>
              <a:gd name="adj" fmla="val 1622"/>
            </a:avLst>
          </a:prstGeom>
          <a:solidFill>
            <a:srgbClr val="FAFBFC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Después de marcar asistencia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720840" y="1874520"/>
            <a:ext cx="4526280" cy="3584448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1579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03C72"/>
                </a:solidFill>
              </a:rPr>
              <a:t>📄 Clases disponibles de Biología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995160" y="2578608"/>
            <a:ext cx="1417320" cy="219456"/>
          </a:xfrm>
          <a:prstGeom prst="roundRect">
            <a:avLst>
              <a:gd name="adj" fmla="val 458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2628900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🟢 Clase recién iniciada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6995160" y="2999232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3E50"/>
                </a:solidFill>
              </a:rPr>
              <a:t>2026 EET CR BIO08 · Prof. Julio Lucero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3337560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37083"/>
                </a:solidFill>
              </a:rPr>
              <a:t>Horario: 18:30 a 20:00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995160" y="3703320"/>
            <a:ext cx="2788920" cy="109728"/>
          </a:xfrm>
          <a:prstGeom prst="rect">
            <a:avLst/>
          </a:prstGeom>
          <a:solidFill>
            <a:srgbClr val="E1EBF1"/>
          </a:solidFill>
          <a:ln w="12700">
            <a:solidFill>
              <a:srgbClr val="E1EB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95160" y="3703320"/>
            <a:ext cx="822960" cy="10972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405079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E50"/>
                </a:solidFill>
              </a:rPr>
              <a:t>Transcurrido: 12 min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503920" y="40507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E50"/>
                </a:solidFill>
              </a:rPr>
              <a:t>Restante: 78 min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995160" y="4572000"/>
            <a:ext cx="1572768" cy="411480"/>
          </a:xfrm>
          <a:prstGeom prst="roundRect">
            <a:avLst>
              <a:gd name="adj" fmla="val 17778"/>
            </a:avLst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4727448"/>
            <a:ext cx="1170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Ingresar a Zoom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8823960" y="468172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37083"/>
                </a:solidFill>
              </a:rPr>
              <a:t>El clic registra username + asignatura + class_id antes de redirigir.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7A9B8"/>
          </a:solidFill>
          <a:ln w="12700">
            <a:solidFill>
              <a:srgbClr val="07A9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"/>
            <a:ext cx="12191695" cy="530352"/>
          </a:xfrm>
          <a:prstGeom prst="rect">
            <a:avLst/>
          </a:prstGeom>
          <a:solidFill>
            <a:srgbClr val="003C72"/>
          </a:solidFill>
          <a:ln w="12700">
            <a:solidFill>
              <a:srgbClr val="003C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9184"/>
            <a:ext cx="8961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visual actual de Moodle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0" y="3566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F5F7"/>
                </a:solidFill>
              </a:rPr>
              <a:t>Estructura que se desea respetar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Parrilla dinámica de clases EN VIVO | Moodle + GitHub + GAS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326880" y="6565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Borrador de decisión técnica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3035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pic>
        <p:nvPicPr>
          <p:cNvPr id="9" name="Image 0" descr="/mnt/data/image(194).png">    </p:cNvPr>
          <p:cNvPicPr>
            <a:picLocks noChangeAspect="1"/>
          </p:cNvPicPr>
          <p:nvPr/>
        </p:nvPicPr>
        <p:blipFill>
          <a:blip r:embed="rId1"/>
          <a:srcRect l="0" r="0" t="7182" b="7182"/>
          <a:stretch/>
        </p:blipFill>
        <p:spPr>
          <a:xfrm>
            <a:off x="685800" y="1234440"/>
            <a:ext cx="5029200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53218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C72"/>
                </a:solidFill>
              </a:rPr>
              <a:t>Restricciones y actividades Moodle actuales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1051560"/>
            <a:ext cx="530352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</p:sp>
      <p:pic>
        <p:nvPicPr>
          <p:cNvPr id="12" name="Image 1" descr="/mnt/data/image(195).png">    </p:cNvPr>
          <p:cNvPicPr>
            <a:picLocks noChangeAspect="1"/>
          </p:cNvPicPr>
          <p:nvPr/>
        </p:nvPicPr>
        <p:blipFill>
          <a:blip r:embed="rId2"/>
          <a:srcRect l="13170" r="13170" t="0" b="0"/>
          <a:stretch/>
        </p:blipFill>
        <p:spPr>
          <a:xfrm>
            <a:off x="6446520" y="1234440"/>
            <a:ext cx="5029200" cy="3840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53218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C72"/>
                </a:solidFill>
              </a:rPr>
              <a:t>Parrilla visual informativa de clases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PreUCV 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Escenarios Moodle + GitHub + GAS para acceso a clases</dc:title>
  <dc:subject>Escenarios para parrilla dinámica de links Zoom en Moodle</dc:subject>
  <dc:creator>OpenAI</dc:creator>
  <cp:lastModifiedBy>OpenAI</cp:lastModifiedBy>
  <cp:revision>1</cp:revision>
  <dcterms:created xsi:type="dcterms:W3CDTF">2026-05-17T20:52:21Z</dcterms:created>
  <dcterms:modified xsi:type="dcterms:W3CDTF">2026-05-17T20:52:21Z</dcterms:modified>
</cp:coreProperties>
</file>